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EDA1-C797-650D-D177-FBC66128A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98211-49EE-9750-3C92-17A884A1B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79470-01CF-F939-020C-F6EF67D4E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E7C3F-8F4A-235A-2FBA-9C101FCF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56FB8-DF47-BA45-4F0C-1E71BD77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3603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782F-B347-F81F-227C-53E8F73F7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FCAF3-5DB3-B677-2EB1-ADFC81B53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8F1C8-6E12-A4DE-CEC5-D0F72125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8E83D-AE8D-C110-F5ED-FAD651724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B72C2-1CC0-8E44-425A-78E68518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79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627B-A83A-24B0-1092-263D722F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090CD-6E11-A18D-6076-8CA36E854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88F43-5210-FD95-7A53-D1A3F0514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676C2-A93B-61F8-76FC-E272ADC4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0453D-50BB-C471-11E2-115F14C9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055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87CC-11E5-D175-2D16-D719085FC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C2B25-0191-21EA-BF2A-DA74B5FAA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63AE6-9916-C474-7517-E79038C92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9529B-54CC-3C22-88CA-18995E0D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06859-7802-53A6-AE25-178DD9D7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CF53F-4D5B-AAAD-DCC0-9E515944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622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7F04-D6F8-189D-4497-5A59EC750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351D5-2ACE-3008-7F9D-BFBC25DF8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89165-050F-F2DF-D9DC-273C4F533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C75FB6-D10A-83AD-445C-74AD8CDAD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8E946-ECFE-C9DD-75B7-6883A4565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FFE5B-081B-DC4B-1BD9-7381709E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FA9363-3539-8CC1-5A8E-9C00B4C0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9E565-8DF9-A5F3-DF01-688775E4A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864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7726-4C12-8B29-255F-46AF62C1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2FBE03-7CA3-AB87-3C38-97CBC3BB8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57E12-2FCE-95FD-2E6D-EA058E1C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045E39-96BF-0C0A-EFFC-E44AEB36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843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1C0036-E7F1-F761-92B5-DEA54D5FD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B49C06-9066-7D47-1751-03E61CE9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23EC1-6130-B81C-A079-B65F5661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7517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3447-6B21-A595-3BF8-F6669E394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FB337-1935-7BC5-AB73-724AAEE97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8377B-E579-C134-F330-7AC224C26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F0B87-50B6-A533-5EF3-BB2F9C36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3D3DA-4CCC-93E7-0E24-E302379F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71E93-F64A-B66B-6E13-7D705DAE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423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BCC6-FE75-6804-94B1-E0DB5863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987A0-EBF3-D9C4-896D-39C348D51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03802-D371-2E02-7A76-C1E4B845F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5ADB5-8DCB-3C82-25F5-4F3F61F4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39F7C-E335-8349-9EC7-BD341030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EF925-44A1-378D-578C-5B355E0A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400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54603-7A64-5C30-F34B-8641AF7AE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315486-4AD8-63AC-CEC6-3C4C58825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98577-951C-55C9-5268-A6F1C5CF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E1E58-D4F3-7497-730E-3EDB42053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7C4DF-78D3-236C-5383-5A8BC430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0398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20021-543B-6BAA-D606-AB7618C59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4BB99-F92D-2014-349E-8CC7EC587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E6427-6115-000C-A431-3D56BAD8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9AAF-5EC5-A2B6-965C-3BC46A0DD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AEF80-658F-CF55-2C9F-306AB0DA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87189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88151-8B53-BB89-8B21-93D1F0174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248FC-E1A8-64F6-5213-2CC27362D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4E405-7796-CFF6-D5CF-5FAA229B1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71BBA-6789-45C5-BD03-93751BFF0532}" type="datetimeFigureOut">
              <a:rPr lang="en-SG" smtClean="0"/>
              <a:t>10/4/2026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806AF-0F28-C112-3E22-1B72804FA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B1C65-2159-1FF4-6ACB-AF389747A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AD327-F191-4345-9B2F-D2096FF686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116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Schematic Drawing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8BD8"/>
                </a:solidFill>
              </a:rPr>
              <a:t>AI-Powered Water Pipe Compliance for Singapore PUB Regulations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1D5DB"/>
                </a:solidFill>
              </a:rPr>
              <a:t>React  ·  FastAPI  ·  Docker  ·  OpenAI GPT-4o-mini  ·  RAG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Schematic Drawing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8BD8"/>
                </a:solidFill>
              </a:rPr>
              <a:t>AI-Powered Water Pipe Compliance for Singapore PUB Regulations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1D5DB"/>
                </a:solidFill>
              </a:rPr>
              <a:t>React  ·  FastAPI  ·  Docker  ·  OpenAI GPT-4o-mini  · 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8BD8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BD8"/>
                </a:solidFill>
              </a:rPr>
              <a:t>Traditional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Engineers draw water pipe schematics by hand or in CAD — compliance checking is manual, slow, and error-prone.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88920"/>
            <a:ext cx="1143000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BD8"/>
                </a:solidFill>
              </a:rPr>
              <a:t>Regulatory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6440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Singapore PUB regulations span the Water Supply Regulations and the 2022 Handbook: hundreds of pages of technical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80560"/>
            <a:ext cx="1143000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572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BD8"/>
                </a:solidFill>
              </a:rPr>
              <a:t>The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5604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What if a tool could draw the schematic AND instantly evaluate compliance using AI grounded in the actual regulation text?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8BD8"/>
                </a:solidFill>
              </a:rPr>
              <a:t>What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54864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D8"/>
                </a:solidFill>
              </a:rPr>
              <a:t>Stage 1
Drawing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Drag-and-drop schematic editor
• 16 built-in water system symbols
• Real-world elevation (mRL) Y-axis
• Custom symbol uploads (SVG / PNG)
• JSON metadata 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577840" cy="54864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D8"/>
                </a:solidFill>
              </a:rPr>
              <a:t>Stage 2
AI Compliance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Reg 28 — Backflow Prevention
• HB 2.2.1 — Mode of Supply
• HB 7.2.1 — Water Efficiency (WELS)
• Hydraulic pressure network solver
• RAG grounded in PUB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8BD8"/>
                </a:solidFill>
              </a:rPr>
              <a:t>Stage 1 — Schematic Drawing Canvas</a:t>
            </a:r>
          </a:p>
        </p:txBody>
      </p:sp>
      <p:pic>
        <p:nvPicPr>
          <p:cNvPr id="4" name="Picture 3" descr="canv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229600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0" y="914400"/>
            <a:ext cx="3291840" cy="5715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1005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8"/>
                </a:solidFill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1508760"/>
            <a:ext cx="3108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Drag-drop symbol palette
→ mRL elevation Y-axis
→ Cold / hot water pipe modes
→ Valves, heaters, pumps, meters
→ Tee junctions &amp; elbows
→ Export JSON metadata
→ Custom symbol uploads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8BD8"/>
                </a:solidFill>
              </a:rPr>
              <a:t>Stage 2 — AI Compliance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521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PASS  Reg 28 — Backflow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Verifies every water heater has a check valve immediately upstream on its inlet.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</a:rPr>
              <a:t>Public Utilities (Water Supply) Regulations, Reg 28(1)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50592"/>
            <a:ext cx="1161288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0545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PASS  HB 2.2.1 — Mode of Supply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9504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Determines whether direct PUB mains supply is appropriate (highest fitting ≤ 125 m MRL).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735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</a:rPr>
              <a:t>PUB Handbook on Application for Water Supply 2022, §2.2.1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803904"/>
            <a:ext cx="1161288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587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PASS  HB 7.2.1 — Water Efficiency (WELS)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42816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Validates all water fittings carry a MWELS ≥ 2-tick rating and totals design flow demand.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2686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</a:rPr>
              <a:t>PUB Handbook on Application for Water Supply 2022, §7.2.1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157216"/>
            <a:ext cx="1161288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PASS  Hydraulic — Pressure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96128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Network solver computes residual pressure (bar) at every outlet under simultaneous peak demand.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017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</a:rPr>
              <a:t>Pass condition: all outlets ≥ 1 bar residual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8BD8"/>
                </a:solidFill>
              </a:rPr>
              <a:t>Hydraulic Analysis — Residual Pressure at All Outlets</a:t>
            </a:r>
          </a:p>
        </p:txBody>
      </p:sp>
      <p:pic>
        <p:nvPicPr>
          <p:cNvPr id="4" name="Picture 3" descr="elevation_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229600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0" y="914400"/>
            <a:ext cx="3291840" cy="5715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1005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8"/>
                </a:solidFill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1508760"/>
            <a:ext cx="3108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Parses schematic JSON
→ Builds pipe network graph
→ Applies pressure-loss model
→ Solves residual pressure
    at each fitting
→ Flags highest-elevation
    fitting (worst-case)
→ Pass: all outlets ≥ 1 bar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8BD8"/>
                </a:solidFill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8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170432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React 18 + TypeScript  ·  Konva.js (canvas)  ·  Zustand  ·  Vite  ·  Axios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29968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8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0312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Python 3.12  ·  FastAPI  ·  Uvicorn  ·  Pydantic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62656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3580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8"/>
                </a:solidFill>
              </a:rPr>
              <a:t>AI /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035808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OpenAI GPT-4o-mini  ·  Together AI Qwen2.5-72B  ·  switchable at runtime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95344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68496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8"/>
                </a:solidFill>
              </a:rP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968496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ChromaDB vector store  ·  LangChain document loaders  ·  PDF / DOCX ingestion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28032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0118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8"/>
                </a:solidFill>
              </a:rPr>
              <a:t>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901184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Docker multi-stage builds  ·  Docker Compose  ·  Kubernetes manifests  ·  Nginx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760720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83387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8"/>
                </a:solidFill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833872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~$0.0001 per full compliance evaluation (GPT-4o-mini)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8BD8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743200" cy="17373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00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8BD8"/>
                </a:solidFill>
              </a:rPr>
              <a:t>Browser
(React + Konva)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1188720"/>
            <a:ext cx="2743200" cy="17373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00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8BD8"/>
                </a:solidFill>
              </a:rPr>
              <a:t>FastAPI Backend
(Python)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188720"/>
            <a:ext cx="2743200" cy="1737360"/>
          </a:xfrm>
          <a:prstGeom prst="rect">
            <a:avLst/>
          </a:prstGeom>
          <a:solidFill>
            <a:srgbClr val="0D1B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1600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</a:rPr>
              <a:t>LLM APIs
(OpenAI / Together)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840480"/>
            <a:ext cx="2743200" cy="1737360"/>
          </a:xfrm>
          <a:prstGeom prst="rect">
            <a:avLst/>
          </a:prstGeom>
          <a:solidFill>
            <a:srgbClr val="0D1B2A"/>
          </a:solidFill>
          <a:ln w="254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2519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1D5DB"/>
                </a:solidFill>
              </a:rPr>
              <a:t>Docker Compose
or Kubernetes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3840480"/>
            <a:ext cx="2743200" cy="1737360"/>
          </a:xfrm>
          <a:prstGeom prst="rect">
            <a:avLst/>
          </a:prstGeom>
          <a:solidFill>
            <a:srgbClr val="0D1B2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42519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</a:rPr>
              <a:t>ChromaDB
Vector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3840480"/>
            <a:ext cx="2743200" cy="1737360"/>
          </a:xfrm>
          <a:prstGeom prst="rect">
            <a:avLst/>
          </a:prstGeom>
          <a:solidFill>
            <a:srgbClr val="0D1B2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42519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</a:rPr>
              <a:t>PUB Regulations
(PDF→Embeddings)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→ HTTP /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→ LLM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→ deployed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91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↑ RAG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→ ingested into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Schematic Drawing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8BD8"/>
                </a:solidFill>
              </a:rPr>
              <a:t>Draw.  Evaluate.  Comply.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1D5DB"/>
                </a:solidFill>
              </a:rPr>
              <a:t>Source code available on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1D5DB"/>
                </a:solidFill>
              </a:rPr>
              <a:t>React  ·  FastAPI  ·  Docker  ·  OpenAI  ·  RAG  ·  ChromaDB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Barry Koh</dc:creator>
  <cp:lastModifiedBy>Barry Koh</cp:lastModifiedBy>
  <cp:revision>1</cp:revision>
  <dcterms:created xsi:type="dcterms:W3CDTF">2026-04-10T01:55:15Z</dcterms:created>
  <dcterms:modified xsi:type="dcterms:W3CDTF">2026-04-10T01:55:27Z</dcterms:modified>
</cp:coreProperties>
</file>